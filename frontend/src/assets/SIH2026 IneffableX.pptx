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308" r:id="rId3"/>
    <p:sldId id="311" r:id="rId4"/>
    <p:sldId id="309" r:id="rId5"/>
    <p:sldId id="310" r:id="rId6"/>
    <p:sldId id="312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HARAT" initials="B" lastIdx="0" clrIdx="0">
    <p:extLst>
      <p:ext uri="{19B8F6BF-5375-455C-9EA6-DF929625EA0E}">
        <p15:presenceInfo xmlns:p15="http://schemas.microsoft.com/office/powerpoint/2012/main" userId="BHARA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29" autoAdjust="0"/>
    <p:restoredTop sz="94652" autoAdjust="0"/>
  </p:normalViewPr>
  <p:slideViewPr>
    <p:cSldViewPr snapToGrid="0" snapToObjects="1">
      <p:cViewPr>
        <p:scale>
          <a:sx n="75" d="100"/>
          <a:sy n="75" d="100"/>
        </p:scale>
        <p:origin x="396" y="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5849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879986"/>
            <a:ext cx="8534400" cy="1752600"/>
          </a:xfrm>
        </p:spPr>
        <p:txBody>
          <a:bodyPr wrap="square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tx1"/>
                </a:solidFill>
              </a:rPr>
              <a:t>TITLE PAGE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640328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74638" indent="-274638">
              <a:spcBef>
                <a:spcPts val="0"/>
              </a:spcBef>
              <a:spcAft>
                <a:spcPts val="1400"/>
              </a:spcAft>
              <a:buFont typeface="Arial" pitchFamily="34" charset="0"/>
              <a:buChar char="•"/>
            </a:pPr>
            <a:r>
              <a:rPr lang="en-US" sz="1600" b="1" dirty="0">
                <a:latin typeface="Arial" pitchFamily="34" charset="0"/>
                <a:cs typeface="Arial" pitchFamily="34" charset="0"/>
              </a:rPr>
              <a:t>Problem Statement ID  –  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SIH26090</a:t>
            </a:r>
          </a:p>
          <a:p>
            <a:pPr marL="274638" indent="-274638">
              <a:spcBef>
                <a:spcPts val="0"/>
              </a:spcBef>
              <a:spcAft>
                <a:spcPts val="1400"/>
              </a:spcAft>
              <a:buFont typeface="Arial" pitchFamily="34" charset="0"/>
              <a:buChar char="•"/>
            </a:pPr>
            <a:r>
              <a:rPr lang="en-US" sz="1600" b="1" dirty="0">
                <a:latin typeface="Arial" pitchFamily="34" charset="0"/>
                <a:cs typeface="Arial" pitchFamily="34" charset="0"/>
              </a:rPr>
              <a:t>Problem Statement Title  –  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AI-Driven Market Linkage and Smart Cataloging Mobile Application for Marginalized 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Artisans</a:t>
            </a:r>
            <a:endParaRPr lang="en-US" sz="1600" dirty="0">
              <a:latin typeface="Arial" pitchFamily="34" charset="0"/>
              <a:cs typeface="Arial" pitchFamily="34" charset="0"/>
            </a:endParaRPr>
          </a:p>
          <a:p>
            <a:pPr marL="274638" indent="-274638">
              <a:spcBef>
                <a:spcPts val="0"/>
              </a:spcBef>
              <a:spcAft>
                <a:spcPts val="1400"/>
              </a:spcAft>
              <a:buFont typeface="Arial" pitchFamily="34" charset="0"/>
              <a:buChar char="•"/>
            </a:pPr>
            <a:r>
              <a:rPr lang="en-US" sz="1600" b="1" dirty="0" smtClean="0">
                <a:latin typeface="Arial" pitchFamily="34" charset="0"/>
                <a:cs typeface="Arial" pitchFamily="34" charset="0"/>
              </a:rPr>
              <a:t>Theme  </a:t>
            </a:r>
            <a:r>
              <a:rPr lang="en-US" sz="1600" b="1" dirty="0">
                <a:latin typeface="Arial" pitchFamily="34" charset="0"/>
                <a:cs typeface="Arial" pitchFamily="34" charset="0"/>
              </a:rPr>
              <a:t>–  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Heritage and 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culture</a:t>
            </a:r>
          </a:p>
          <a:p>
            <a:pPr marL="274638" indent="-274638">
              <a:spcBef>
                <a:spcPts val="0"/>
              </a:spcBef>
              <a:spcAft>
                <a:spcPts val="1400"/>
              </a:spcAft>
              <a:buFont typeface="Arial" pitchFamily="34" charset="0"/>
              <a:buChar char="•"/>
            </a:pPr>
            <a:r>
              <a:rPr lang="en-US" sz="1600" b="1" dirty="0">
                <a:latin typeface="Arial" pitchFamily="34" charset="0"/>
                <a:cs typeface="Arial" pitchFamily="34" charset="0"/>
              </a:rPr>
              <a:t>PS Category  –  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Software</a:t>
            </a:r>
            <a:endParaRPr lang="en-US" sz="1600" dirty="0">
              <a:latin typeface="Arial" pitchFamily="34" charset="0"/>
              <a:cs typeface="Arial" pitchFamily="34" charset="0"/>
            </a:endParaRPr>
          </a:p>
          <a:p>
            <a:pPr marL="274638" indent="-274638">
              <a:spcBef>
                <a:spcPts val="0"/>
              </a:spcBef>
              <a:spcAft>
                <a:spcPts val="1400"/>
              </a:spcAft>
              <a:buFont typeface="Arial" pitchFamily="34" charset="0"/>
              <a:buChar char="•"/>
            </a:pPr>
            <a:r>
              <a:rPr lang="en-US" sz="1600" b="1" dirty="0">
                <a:latin typeface="Arial" pitchFamily="34" charset="0"/>
                <a:cs typeface="Arial" pitchFamily="34" charset="0"/>
              </a:rPr>
              <a:t>Team ID  –  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[Insert Team ID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]</a:t>
            </a:r>
            <a:endParaRPr lang="en-US" sz="1600" dirty="0">
              <a:latin typeface="Arial" pitchFamily="34" charset="0"/>
              <a:cs typeface="Arial" pitchFamily="34" charset="0"/>
            </a:endParaRPr>
          </a:p>
          <a:p>
            <a:pPr marL="274638" indent="-274638">
              <a:spcBef>
                <a:spcPts val="0"/>
              </a:spcBef>
              <a:spcAft>
                <a:spcPts val="1400"/>
              </a:spcAft>
              <a:buFont typeface="Arial" pitchFamily="34" charset="0"/>
              <a:buChar char="•"/>
            </a:pPr>
            <a:r>
              <a:rPr lang="en-US" sz="1600" b="1" dirty="0">
                <a:latin typeface="Arial" pitchFamily="34" charset="0"/>
                <a:cs typeface="Arial" pitchFamily="34" charset="0"/>
              </a:rPr>
              <a:t>Team Name (Registered on portal)  –  </a:t>
            </a:r>
            <a:r>
              <a:rPr lang="en-US" sz="1600" dirty="0" err="1">
                <a:latin typeface="Arial" pitchFamily="34" charset="0"/>
                <a:cs typeface="Arial" pitchFamily="34" charset="0"/>
              </a:rPr>
              <a:t>I</a:t>
            </a:r>
            <a:r>
              <a:rPr lang="en-US" sz="1600" dirty="0" err="1" smtClean="0">
                <a:latin typeface="Arial" pitchFamily="34" charset="0"/>
                <a:cs typeface="Arial" pitchFamily="34" charset="0"/>
              </a:rPr>
              <a:t>neffableX</a:t>
            </a:r>
            <a:endParaRPr lang="en-US" sz="16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3896000" y="6500000"/>
            <a:ext cx="440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808080"/>
                </a:solidFill>
                <a:latin typeface="Arial"/>
              </a:rPr>
              <a:t>Team Name - </a:t>
            </a:r>
            <a:r>
              <a:rPr lang="en-US" b="1" dirty="0" err="1">
                <a:solidFill>
                  <a:srgbClr val="808080"/>
                </a:solidFill>
                <a:latin typeface="Arial"/>
              </a:rPr>
              <a:t>I</a:t>
            </a:r>
            <a:r>
              <a:rPr b="1" dirty="0" err="1" smtClean="0">
                <a:solidFill>
                  <a:srgbClr val="808080"/>
                </a:solidFill>
                <a:latin typeface="Arial"/>
              </a:rPr>
              <a:t>neffableX</a:t>
            </a:r>
            <a:endParaRPr b="1" dirty="0">
              <a:solidFill>
                <a:srgbClr val="80808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414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" y="0"/>
            <a:ext cx="12192000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850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55448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A6BA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IneffableX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96596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AND VIABILITY</a:t>
            </a:r>
            <a:endParaRPr lang="en-US" sz="3000" dirty="0"/>
          </a:p>
        </p:txBody>
      </p:sp>
      <p:pic>
        <p:nvPicPr>
          <p:cNvPr id="5" name="Image 0" descr="/home/claude/work/sih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4295" y="164592"/>
            <a:ext cx="1737360" cy="80594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932688"/>
            <a:ext cx="11548872" cy="0"/>
          </a:xfrm>
          <a:prstGeom prst="line">
            <a:avLst/>
          </a:prstGeom>
          <a:noFill/>
          <a:ln w="15875">
            <a:solidFill>
              <a:srgbClr val="CBD3D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1182625"/>
            <a:ext cx="5486400" cy="437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– Can we build it?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292608" y="1682496"/>
            <a:ext cx="5509259" cy="12192"/>
          </a:xfrm>
          <a:prstGeom prst="line">
            <a:avLst/>
          </a:prstGeom>
          <a:noFill/>
          <a:ln w="19050">
            <a:solidFill>
              <a:srgbClr val="1F5FA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55080" y="1170432"/>
            <a:ext cx="5486400" cy="443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8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Viability – Can it work in the real world?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 flipV="1">
            <a:off x="6327647" y="1679448"/>
            <a:ext cx="5544007" cy="7056"/>
          </a:xfrm>
          <a:prstGeom prst="line">
            <a:avLst/>
          </a:prstGeom>
          <a:noFill/>
          <a:ln w="19050">
            <a:solidFill>
              <a:srgbClr val="128C8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15467" y="2071116"/>
            <a:ext cx="5486400" cy="868680"/>
          </a:xfrm>
          <a:prstGeom prst="roundRect">
            <a:avLst>
              <a:gd name="adj" fmla="val 8421"/>
            </a:avLst>
          </a:prstGeom>
          <a:solidFill>
            <a:srgbClr val="EAF1FA"/>
          </a:solidFill>
          <a:ln/>
        </p:spPr>
      </p:sp>
      <p:sp>
        <p:nvSpPr>
          <p:cNvPr id="12" name="Shape 9"/>
          <p:cNvSpPr/>
          <p:nvPr/>
        </p:nvSpPr>
        <p:spPr>
          <a:xfrm>
            <a:off x="315466" y="2052827"/>
            <a:ext cx="59437" cy="842261"/>
          </a:xfrm>
          <a:prstGeom prst="rect">
            <a:avLst/>
          </a:prstGeom>
          <a:solidFill>
            <a:srgbClr val="1F5FA8"/>
          </a:solidFill>
          <a:ln/>
        </p:spPr>
      </p:sp>
      <p:sp>
        <p:nvSpPr>
          <p:cNvPr id="13" name="Shape 10"/>
          <p:cNvSpPr/>
          <p:nvPr/>
        </p:nvSpPr>
        <p:spPr>
          <a:xfrm>
            <a:off x="484632" y="2134218"/>
            <a:ext cx="438912" cy="486552"/>
          </a:xfrm>
          <a:prstGeom prst="ellipse">
            <a:avLst/>
          </a:prstGeom>
          <a:solidFill>
            <a:srgbClr val="1F5FA8"/>
          </a:solidFill>
          <a:ln/>
        </p:spPr>
      </p:sp>
      <p:pic>
        <p:nvPicPr>
          <p:cNvPr id="200" name="Icon icon_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554904" y="2223120"/>
            <a:ext cx="282336" cy="28233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14984" y="2109216"/>
            <a:ext cx="461772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AI + Open Source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14984" y="2404872"/>
            <a:ext cx="4617720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 + FastAPI with OpenCV / speech tools</a:t>
            </a:r>
            <a:endParaRPr lang="en-US" sz="120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design allows independent feature upgrades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355080" y="2014728"/>
            <a:ext cx="5486400" cy="925068"/>
          </a:xfrm>
          <a:prstGeom prst="roundRect">
            <a:avLst>
              <a:gd name="adj" fmla="val 8421"/>
            </a:avLst>
          </a:prstGeom>
          <a:solidFill>
            <a:srgbClr val="E8F6F4"/>
          </a:solidFill>
          <a:ln/>
        </p:spPr>
      </p:sp>
      <p:sp>
        <p:nvSpPr>
          <p:cNvPr id="18" name="Shape 15"/>
          <p:cNvSpPr/>
          <p:nvPr/>
        </p:nvSpPr>
        <p:spPr>
          <a:xfrm>
            <a:off x="6355080" y="2014728"/>
            <a:ext cx="54864" cy="880360"/>
          </a:xfrm>
          <a:prstGeom prst="rect">
            <a:avLst/>
          </a:prstGeom>
          <a:solidFill>
            <a:srgbClr val="128C87"/>
          </a:solidFill>
          <a:ln/>
        </p:spPr>
      </p:sp>
      <p:sp>
        <p:nvSpPr>
          <p:cNvPr id="19" name="Shape 16"/>
          <p:cNvSpPr/>
          <p:nvPr/>
        </p:nvSpPr>
        <p:spPr>
          <a:xfrm>
            <a:off x="6519672" y="2121918"/>
            <a:ext cx="420624" cy="468881"/>
          </a:xfrm>
          <a:prstGeom prst="ellipse">
            <a:avLst/>
          </a:prstGeom>
          <a:solidFill>
            <a:srgbClr val="128C87"/>
          </a:solidFill>
          <a:ln/>
        </p:spPr>
      </p:sp>
      <p:pic>
        <p:nvPicPr>
          <p:cNvPr id="201" name="Icon icon_m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9984" y="2244288"/>
            <a:ext cx="240000" cy="2400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050024" y="1984248"/>
            <a:ext cx="4617720" cy="435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Adoption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050024" y="2450590"/>
            <a:ext cx="4617720" cy="444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“Speak, Don't Type” voice-first product entry</a:t>
            </a:r>
            <a:endParaRPr lang="en-US" sz="120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steps: Capture → Speak → Review &amp; Publish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21054" y="3132833"/>
            <a:ext cx="5486400" cy="920496"/>
          </a:xfrm>
          <a:prstGeom prst="roundRect">
            <a:avLst>
              <a:gd name="adj" fmla="val 8421"/>
            </a:avLst>
          </a:prstGeom>
          <a:solidFill>
            <a:srgbClr val="EAF1FA"/>
          </a:solidFill>
          <a:ln/>
        </p:spPr>
      </p:sp>
      <p:sp>
        <p:nvSpPr>
          <p:cNvPr id="24" name="Shape 21"/>
          <p:cNvSpPr/>
          <p:nvPr/>
        </p:nvSpPr>
        <p:spPr>
          <a:xfrm>
            <a:off x="320040" y="3121152"/>
            <a:ext cx="45719" cy="893064"/>
          </a:xfrm>
          <a:prstGeom prst="rect">
            <a:avLst/>
          </a:prstGeom>
          <a:solidFill>
            <a:srgbClr val="1F5FA8"/>
          </a:solidFill>
          <a:ln/>
        </p:spPr>
      </p:sp>
      <p:sp>
        <p:nvSpPr>
          <p:cNvPr id="25" name="Shape 22"/>
          <p:cNvSpPr/>
          <p:nvPr/>
        </p:nvSpPr>
        <p:spPr>
          <a:xfrm>
            <a:off x="484632" y="3341004"/>
            <a:ext cx="420624" cy="420228"/>
          </a:xfrm>
          <a:prstGeom prst="ellipse">
            <a:avLst/>
          </a:prstGeom>
          <a:solidFill>
            <a:srgbClr val="1F5FA8"/>
          </a:solidFill>
          <a:ln/>
        </p:spPr>
      </p:sp>
      <p:pic>
        <p:nvPicPr>
          <p:cNvPr id="202" name="Icon icon_off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944" y="3437808"/>
            <a:ext cx="240000" cy="2400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014984" y="3105912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Offline-First &amp; Lightweight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014984" y="3499104"/>
            <a:ext cx="461772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stores catalog data, photos and audio locally</a:t>
            </a:r>
            <a:endParaRPr lang="en-US" sz="120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layer reconciles changes when connectivity returns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355080" y="3148584"/>
            <a:ext cx="5486400" cy="904744"/>
          </a:xfrm>
          <a:prstGeom prst="roundRect">
            <a:avLst>
              <a:gd name="adj" fmla="val 8421"/>
            </a:avLst>
          </a:prstGeom>
          <a:solidFill>
            <a:srgbClr val="E8F6F4"/>
          </a:solidFill>
          <a:ln/>
        </p:spPr>
      </p:sp>
      <p:sp>
        <p:nvSpPr>
          <p:cNvPr id="30" name="Shape 27"/>
          <p:cNvSpPr/>
          <p:nvPr/>
        </p:nvSpPr>
        <p:spPr>
          <a:xfrm>
            <a:off x="6327648" y="3148584"/>
            <a:ext cx="73151" cy="865632"/>
          </a:xfrm>
          <a:prstGeom prst="rect">
            <a:avLst/>
          </a:prstGeom>
          <a:solidFill>
            <a:srgbClr val="1F5FA8"/>
          </a:solidFill>
          <a:ln/>
        </p:spPr>
      </p:sp>
      <p:sp>
        <p:nvSpPr>
          <p:cNvPr id="31" name="Shape 28"/>
          <p:cNvSpPr/>
          <p:nvPr/>
        </p:nvSpPr>
        <p:spPr>
          <a:xfrm>
            <a:off x="6519672" y="3259440"/>
            <a:ext cx="420624" cy="462168"/>
          </a:xfrm>
          <a:prstGeom prst="ellipse">
            <a:avLst/>
          </a:prstGeom>
          <a:solidFill>
            <a:srgbClr val="1F5FA8"/>
          </a:solidFill>
          <a:ln/>
        </p:spPr>
      </p:sp>
      <p:pic>
        <p:nvPicPr>
          <p:cNvPr id="203" name="Icon icon_acce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9984" y="3348621"/>
            <a:ext cx="240000" cy="24000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7050024" y="3148584"/>
            <a:ext cx="461772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Accessible in Rural </a:t>
            </a:r>
            <a:r>
              <a:rPr lang="en-US" sz="1600" b="1" dirty="0" smtClean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Areas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050024" y="3529584"/>
            <a:ext cx="4617720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interaction supports local accents and low digital literacy</a:t>
            </a:r>
            <a:endParaRPr lang="en-US" sz="120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onboarding through SHG / community partners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320040" y="4319016"/>
            <a:ext cx="5486400" cy="868680"/>
          </a:xfrm>
          <a:prstGeom prst="roundRect">
            <a:avLst>
              <a:gd name="adj" fmla="val 8421"/>
            </a:avLst>
          </a:prstGeom>
          <a:solidFill>
            <a:srgbClr val="EAF1FA"/>
          </a:solidFill>
          <a:ln/>
        </p:spPr>
      </p:sp>
      <p:sp>
        <p:nvSpPr>
          <p:cNvPr id="36" name="Shape 33"/>
          <p:cNvSpPr/>
          <p:nvPr/>
        </p:nvSpPr>
        <p:spPr>
          <a:xfrm>
            <a:off x="292608" y="4334256"/>
            <a:ext cx="45719" cy="853440"/>
          </a:xfrm>
          <a:prstGeom prst="rect">
            <a:avLst/>
          </a:prstGeom>
          <a:solidFill>
            <a:srgbClr val="7C5AA6"/>
          </a:solidFill>
          <a:ln/>
        </p:spPr>
      </p:sp>
      <p:sp>
        <p:nvSpPr>
          <p:cNvPr id="37" name="Shape 34"/>
          <p:cNvSpPr/>
          <p:nvPr/>
        </p:nvSpPr>
        <p:spPr>
          <a:xfrm>
            <a:off x="484632" y="4507989"/>
            <a:ext cx="420624" cy="417579"/>
          </a:xfrm>
          <a:prstGeom prst="ellipse">
            <a:avLst/>
          </a:prstGeom>
          <a:solidFill>
            <a:srgbClr val="7C5AA6"/>
          </a:solidFill>
          <a:ln/>
        </p:spPr>
      </p:sp>
      <p:pic>
        <p:nvPicPr>
          <p:cNvPr id="204" name="Icon icon_rupe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944" y="4583968"/>
            <a:ext cx="240000" cy="240000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1014984" y="4142232"/>
            <a:ext cx="4617720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Infrastructure Cost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1014984" y="4700016"/>
            <a:ext cx="4617720" cy="45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components reduce software cost</a:t>
            </a:r>
            <a:endParaRPr lang="en-US" sz="120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backend keeps cloud/hosting overhead low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6344922" y="4331208"/>
            <a:ext cx="5486400" cy="841248"/>
          </a:xfrm>
          <a:prstGeom prst="roundRect">
            <a:avLst>
              <a:gd name="adj" fmla="val 8421"/>
            </a:avLst>
          </a:prstGeom>
          <a:solidFill>
            <a:srgbClr val="E8F6F4"/>
          </a:solidFill>
          <a:ln/>
        </p:spPr>
      </p:sp>
      <p:sp>
        <p:nvSpPr>
          <p:cNvPr id="42" name="Shape 39"/>
          <p:cNvSpPr/>
          <p:nvPr/>
        </p:nvSpPr>
        <p:spPr>
          <a:xfrm>
            <a:off x="6344922" y="4300728"/>
            <a:ext cx="65022" cy="850388"/>
          </a:xfrm>
          <a:prstGeom prst="rect">
            <a:avLst/>
          </a:prstGeom>
          <a:solidFill>
            <a:srgbClr val="128C87"/>
          </a:solidFill>
          <a:ln/>
        </p:spPr>
      </p:sp>
      <p:sp>
        <p:nvSpPr>
          <p:cNvPr id="43" name="Shape 40"/>
          <p:cNvSpPr/>
          <p:nvPr/>
        </p:nvSpPr>
        <p:spPr>
          <a:xfrm>
            <a:off x="6519672" y="4432920"/>
            <a:ext cx="420624" cy="434736"/>
          </a:xfrm>
          <a:prstGeom prst="ellipse">
            <a:avLst/>
          </a:prstGeom>
          <a:solidFill>
            <a:srgbClr val="128C87"/>
          </a:solidFill>
          <a:ln/>
        </p:spPr>
      </p:sp>
      <p:pic>
        <p:nvPicPr>
          <p:cNvPr id="205" name="Icon icon_growt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9984" y="4542312"/>
            <a:ext cx="240000" cy="240000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7050024" y="4319016"/>
            <a:ext cx="4617720" cy="271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&amp; Sustainable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7050024" y="4672588"/>
            <a:ext cx="4617720" cy="47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as an MVP and scales feature-by-feature</a:t>
            </a:r>
            <a:endParaRPr lang="en-US" sz="120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●"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 model with SHGs, NGOs and artisan cooperatives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347472" y="5437632"/>
            <a:ext cx="11548872" cy="457200"/>
          </a:xfrm>
          <a:prstGeom prst="roundRect">
            <a:avLst>
              <a:gd name="adj" fmla="val 12000"/>
            </a:avLst>
          </a:prstGeom>
          <a:solidFill>
            <a:srgbClr val="F1ECF7"/>
          </a:solidFill>
          <a:ln/>
        </p:spPr>
      </p:sp>
      <p:sp>
        <p:nvSpPr>
          <p:cNvPr id="48" name="Text 45"/>
          <p:cNvSpPr/>
          <p:nvPr/>
        </p:nvSpPr>
        <p:spPr>
          <a:xfrm>
            <a:off x="502920" y="5425440"/>
            <a:ext cx="1120140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5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RISKS   </a:t>
            </a:r>
            <a:r>
              <a:rPr lang="en-US" sz="14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internet → Offline sync   •   Dialects/noise → ASR + translation   •   Digital literacy → Guided voice onboarding   •   Price trust → Explainable price bands</a:t>
            </a:r>
            <a:endParaRPr lang="en-US" sz="1400" dirty="0"/>
          </a:p>
        </p:txBody>
      </p:sp>
      <p:sp>
        <p:nvSpPr>
          <p:cNvPr id="49" name="Text 46"/>
          <p:cNvSpPr/>
          <p:nvPr/>
        </p:nvSpPr>
        <p:spPr>
          <a:xfrm>
            <a:off x="320040" y="5897880"/>
            <a:ext cx="1154887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“AI handles the tech — the artisan leads the craft.”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265CB"/>
          </a:solidFill>
          <a:ln/>
        </p:spPr>
      </p:sp>
      <p:sp>
        <p:nvSpPr>
          <p:cNvPr id="51" name="Text 4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11521440" y="65379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55448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A6BA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IneffableX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96596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IMPACTS AND BENEFITS</a:t>
            </a:r>
            <a:endParaRPr lang="en-US" sz="3000" dirty="0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4295" y="164592"/>
            <a:ext cx="1737360" cy="80594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932688"/>
            <a:ext cx="11548872" cy="0"/>
          </a:xfrm>
          <a:prstGeom prst="line">
            <a:avLst/>
          </a:prstGeom>
          <a:noFill/>
          <a:ln w="15875">
            <a:solidFill>
              <a:srgbClr val="CBD3DC"/>
            </a:solidFill>
            <a:prstDash val="solid"/>
          </a:ln>
        </p:spPr>
      </p:sp>
      <p:sp>
        <p:nvSpPr>
          <p:cNvPr id="7" name="Card Impacts"/>
          <p:cNvSpPr/>
          <p:nvPr/>
        </p:nvSpPr>
        <p:spPr>
          <a:xfrm>
            <a:off x="385064" y="1163144"/>
            <a:ext cx="5486400" cy="4927856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875">
            <a:solidFill>
              <a:srgbClr val="AFC6E3"/>
            </a:solidFill>
            <a:prstDash val="solid"/>
          </a:ln>
        </p:spPr>
      </p:sp>
      <p:sp>
        <p:nvSpPr>
          <p:cNvPr id="8" name="Accent Impacts"/>
          <p:cNvSpPr/>
          <p:nvPr/>
        </p:nvSpPr>
        <p:spPr>
          <a:xfrm>
            <a:off x="320040" y="1200144"/>
            <a:ext cx="54864" cy="4831856"/>
          </a:xfrm>
          <a:prstGeom prst="rect">
            <a:avLst/>
          </a:prstGeom>
          <a:solidFill>
            <a:srgbClr val="1F5FA8"/>
          </a:solidFill>
          <a:ln/>
        </p:spPr>
      </p:sp>
      <p:sp>
        <p:nvSpPr>
          <p:cNvPr id="9" name="Header Impacts"/>
          <p:cNvSpPr/>
          <p:nvPr/>
        </p:nvSpPr>
        <p:spPr>
          <a:xfrm>
            <a:off x="594360" y="140817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IMPACTS</a:t>
            </a:r>
            <a:endParaRPr lang="en-US" sz="2400" dirty="0"/>
          </a:p>
        </p:txBody>
      </p:sp>
      <p:sp>
        <p:nvSpPr>
          <p:cNvPr id="10" name="Underline Impacts"/>
          <p:cNvSpPr/>
          <p:nvPr/>
        </p:nvSpPr>
        <p:spPr>
          <a:xfrm>
            <a:off x="374904" y="1817877"/>
            <a:ext cx="5496560" cy="23979"/>
          </a:xfrm>
          <a:prstGeom prst="line">
            <a:avLst/>
          </a:prstGeom>
          <a:noFill/>
          <a:ln w="19050">
            <a:solidFill>
              <a:srgbClr val="1F5FA8"/>
            </a:solidFill>
            <a:prstDash val="solid"/>
          </a:ln>
        </p:spPr>
      </p:sp>
      <p:sp>
        <p:nvSpPr>
          <p:cNvPr id="11" name="Bullets Impacts"/>
          <p:cNvSpPr/>
          <p:nvPr/>
        </p:nvSpPr>
        <p:spPr>
          <a:xfrm>
            <a:off x="594360" y="2184400"/>
            <a:ext cx="4937760" cy="402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2880" indent="-182880">
              <a:lnSpc>
                <a:spcPct val="115000"/>
              </a:lnSpc>
              <a:buSzPct val="100000"/>
              <a:buChar char="●"/>
            </a:pPr>
            <a:r>
              <a:rPr lang="en-US" sz="16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Continuous, year-round digital market access beyond periodic exhibitions and trade fairs.</a:t>
            </a:r>
            <a:endParaRPr lang="en-US" sz="1600" dirty="0"/>
          </a:p>
          <a:p>
            <a:pPr marL="182880" indent="-182880">
              <a:spcBef>
                <a:spcPts val="1400"/>
              </a:spcBef>
              <a:buSzPct val="100000"/>
              <a:buChar char="●"/>
            </a:pPr>
            <a:r>
              <a:rPr lang="en-US" sz="16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the technical barrier to professional product cataloging and online selling.</a:t>
            </a:r>
            <a:endParaRPr lang="en-US" sz="1600" dirty="0"/>
          </a:p>
          <a:p>
            <a:pPr marL="182880" indent="-182880">
              <a:spcBef>
                <a:spcPts val="1400"/>
              </a:spcBef>
              <a:buSzPct val="100000"/>
              <a:buChar char="●"/>
            </a:pPr>
            <a:r>
              <a:rPr lang="en-US" sz="16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product presentation through AI-enhanced images and SEO-friendly descriptions.</a:t>
            </a:r>
            <a:endParaRPr lang="en-US" sz="1600" dirty="0"/>
          </a:p>
          <a:p>
            <a:pPr marL="182880" indent="-182880">
              <a:spcBef>
                <a:spcPts val="1400"/>
              </a:spcBef>
              <a:buSzPct val="100000"/>
              <a:buChar char="●"/>
            </a:pPr>
            <a:r>
              <a:rPr lang="en-US" sz="16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better price discovery using market signals and raw-material cost baselines.</a:t>
            </a:r>
            <a:endParaRPr lang="en-US" sz="1600" dirty="0"/>
          </a:p>
          <a:p>
            <a:pPr marL="182880" indent="-182880">
              <a:spcBef>
                <a:spcPts val="1400"/>
              </a:spcBef>
              <a:buSzPct val="100000"/>
              <a:buChar char="●"/>
            </a:pPr>
            <a:r>
              <a:rPr lang="en-US" sz="16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 cultural context through heritage metadata and cluster-based discovery.</a:t>
            </a:r>
            <a:endParaRPr lang="en-US" sz="1600" dirty="0"/>
          </a:p>
        </p:txBody>
      </p:sp>
      <p:sp>
        <p:nvSpPr>
          <p:cNvPr id="12" name="Card Benefits"/>
          <p:cNvSpPr/>
          <p:nvPr/>
        </p:nvSpPr>
        <p:spPr>
          <a:xfrm>
            <a:off x="6583680" y="1178203"/>
            <a:ext cx="5212080" cy="4927856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875">
            <a:solidFill>
              <a:srgbClr val="9ED9D3"/>
            </a:solidFill>
            <a:prstDash val="solid"/>
          </a:ln>
        </p:spPr>
      </p:sp>
      <p:sp>
        <p:nvSpPr>
          <p:cNvPr id="13" name="Accent Benefits"/>
          <p:cNvSpPr/>
          <p:nvPr/>
        </p:nvSpPr>
        <p:spPr>
          <a:xfrm>
            <a:off x="6382512" y="1200144"/>
            <a:ext cx="54864" cy="4831856"/>
          </a:xfrm>
          <a:prstGeom prst="rect">
            <a:avLst/>
          </a:prstGeom>
          <a:solidFill>
            <a:srgbClr val="128C87"/>
          </a:solidFill>
          <a:ln/>
        </p:spPr>
      </p:sp>
      <p:sp>
        <p:nvSpPr>
          <p:cNvPr id="14" name="Header Benefits"/>
          <p:cNvSpPr/>
          <p:nvPr/>
        </p:nvSpPr>
        <p:spPr>
          <a:xfrm>
            <a:off x="6656832" y="140817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28C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</a:t>
            </a:r>
            <a:endParaRPr lang="en-US" sz="2400" dirty="0"/>
          </a:p>
        </p:txBody>
      </p:sp>
      <p:sp>
        <p:nvSpPr>
          <p:cNvPr id="15" name="Underline Benefits"/>
          <p:cNvSpPr/>
          <p:nvPr/>
        </p:nvSpPr>
        <p:spPr>
          <a:xfrm>
            <a:off x="6583680" y="1841854"/>
            <a:ext cx="5212080" cy="1"/>
          </a:xfrm>
          <a:prstGeom prst="line">
            <a:avLst/>
          </a:prstGeom>
          <a:noFill/>
          <a:ln w="19050">
            <a:solidFill>
              <a:srgbClr val="128C87"/>
            </a:solidFill>
            <a:prstDash val="solid"/>
          </a:ln>
        </p:spPr>
      </p:sp>
      <p:sp>
        <p:nvSpPr>
          <p:cNvPr id="16" name="Bullets Benefits"/>
          <p:cNvSpPr/>
          <p:nvPr/>
        </p:nvSpPr>
        <p:spPr>
          <a:xfrm>
            <a:off x="6656832" y="2184400"/>
            <a:ext cx="4663440" cy="374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2880" indent="-182880">
              <a:lnSpc>
                <a:spcPct val="115000"/>
              </a:lnSpc>
              <a:buSzPct val="100000"/>
              <a:buChar char="●"/>
            </a:pPr>
            <a:r>
              <a:rPr lang="en-US" sz="16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visibility for marginalized artisans and micro-entrepreneurs.</a:t>
            </a:r>
            <a:endParaRPr lang="en-US" sz="1600" dirty="0"/>
          </a:p>
          <a:p>
            <a:pPr marL="182880" indent="-182880">
              <a:spcBef>
                <a:spcPts val="1400"/>
              </a:spcBef>
              <a:buSzPct val="100000"/>
              <a:buChar char="●"/>
            </a:pPr>
            <a:r>
              <a:rPr lang="en-US" sz="16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time and effort spent on photography, translation and listing creation.</a:t>
            </a:r>
            <a:endParaRPr lang="en-US" sz="1600" dirty="0"/>
          </a:p>
          <a:p>
            <a:pPr marL="182880" indent="-182880">
              <a:spcBef>
                <a:spcPts val="1400"/>
              </a:spcBef>
              <a:buSzPct val="100000"/>
              <a:buChar char="●"/>
            </a:pPr>
            <a:r>
              <a:rPr lang="en-US" sz="16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Regional-language voice interaction makes digital commerce more accessible.</a:t>
            </a:r>
            <a:endParaRPr lang="en-US" sz="1600" dirty="0"/>
          </a:p>
          <a:p>
            <a:pPr marL="182880" indent="-182880">
              <a:spcBef>
                <a:spcPts val="1400"/>
              </a:spcBef>
              <a:buSzPct val="100000"/>
              <a:buChar char="●"/>
            </a:pPr>
            <a:r>
              <a:rPr lang="en-US" sz="16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Stronger B2B discovery and pathways to government-supported marketplaces.</a:t>
            </a:r>
            <a:endParaRPr lang="en-US" sz="1600" dirty="0"/>
          </a:p>
          <a:p>
            <a:pPr marL="182880" indent="-182880">
              <a:spcBef>
                <a:spcPts val="1400"/>
              </a:spcBef>
              <a:buSzPct val="100000"/>
              <a:buChar char="●"/>
            </a:pPr>
            <a:r>
              <a:rPr lang="en-US" sz="16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practical digital business companion that can grow with the artisan.</a:t>
            </a:r>
            <a:endParaRPr lang="en-US" sz="1600" dirty="0"/>
          </a:p>
        </p:txBody>
      </p:sp>
      <p:sp>
        <p:nvSpPr>
          <p:cNvPr id="17" name="Tagline"/>
          <p:cNvSpPr/>
          <p:nvPr/>
        </p:nvSpPr>
        <p:spPr>
          <a:xfrm>
            <a:off x="320040" y="6150000"/>
            <a:ext cx="11548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ShilpSetu — turning traditional craftsmanship into sustainable digital opportunity.</a:t>
            </a:r>
            <a:endParaRPr lang="en-US" sz="1600" dirty="0"/>
          </a:p>
        </p:txBody>
      </p:sp>
      <p:sp>
        <p:nvSpPr>
          <p:cNvPr id="18" name="Footer Bar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265CB"/>
          </a:solidFill>
          <a:ln/>
        </p:spPr>
      </p:sp>
      <p:sp>
        <p:nvSpPr>
          <p:cNvPr id="19" name="Footer Text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0" name="Page Num"/>
          <p:cNvSpPr/>
          <p:nvPr/>
        </p:nvSpPr>
        <p:spPr>
          <a:xfrm>
            <a:off x="11521440" y="65379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174408"/>
            <a:ext cx="1417320" cy="6583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5B6B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 err="1" smtClean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IneffableX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828800" y="18288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AND REFERENCES</a:t>
            </a:r>
            <a:endParaRPr lang="en-US" sz="2900" dirty="0"/>
          </a:p>
        </p:txBody>
      </p:sp>
      <p:pic>
        <p:nvPicPr>
          <p:cNvPr id="5" name="Image 0" descr="/home/claude/work/sih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1552" y="29447"/>
            <a:ext cx="1737360" cy="80594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896112"/>
            <a:ext cx="11548872" cy="0"/>
          </a:xfrm>
          <a:prstGeom prst="line">
            <a:avLst/>
          </a:prstGeom>
          <a:noFill/>
          <a:ln w="15875">
            <a:solidFill>
              <a:srgbClr val="CBD3D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98755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Research, data sources &amp; technical references</a:t>
            </a:r>
            <a:endParaRPr lang="en-US" sz="1600" dirty="0"/>
          </a:p>
        </p:txBody>
      </p:sp>
      <p:sp>
        <p:nvSpPr>
          <p:cNvPr id="400" name="Card"/>
          <p:cNvSpPr/>
          <p:nvPr/>
        </p:nvSpPr>
        <p:spPr>
          <a:xfrm>
            <a:off x="320040" y="1463040"/>
            <a:ext cx="5638800" cy="1850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875">
            <a:solidFill>
              <a:srgbClr val="AFC6E3"/>
            </a:solidFill>
            <a:prstDash val="solid"/>
          </a:ln>
        </p:spPr>
      </p:sp>
      <p:sp>
        <p:nvSpPr>
          <p:cNvPr id="401" name="IconCircle"/>
          <p:cNvSpPr/>
          <p:nvPr/>
        </p:nvSpPr>
        <p:spPr>
          <a:xfrm>
            <a:off x="617221" y="1596916"/>
            <a:ext cx="274320" cy="305036"/>
          </a:xfrm>
          <a:prstGeom prst="ellipse">
            <a:avLst/>
          </a:prstGeom>
          <a:solidFill>
            <a:srgbClr val="1F5FA8"/>
          </a:solidFill>
          <a:ln/>
        </p:spPr>
      </p:sp>
      <p:pic>
        <p:nvPicPr>
          <p:cNvPr id="402" name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11" y="1629593"/>
            <a:ext cx="228599" cy="228599"/>
          </a:xfrm>
          <a:prstGeom prst="rect">
            <a:avLst/>
          </a:prstGeom>
        </p:spPr>
      </p:pic>
      <p:sp>
        <p:nvSpPr>
          <p:cNvPr id="403" name="Heading"/>
          <p:cNvSpPr/>
          <p:nvPr/>
        </p:nvSpPr>
        <p:spPr>
          <a:xfrm>
            <a:off x="990600" y="1490474"/>
            <a:ext cx="4693920" cy="502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&amp; MARKET RESEARCH</a:t>
            </a:r>
            <a:endParaRPr lang="en-US" sz="1600" dirty="0"/>
          </a:p>
        </p:txBody>
      </p:sp>
      <p:sp>
        <p:nvSpPr>
          <p:cNvPr id="404" name="Divider"/>
          <p:cNvSpPr/>
          <p:nvPr/>
        </p:nvSpPr>
        <p:spPr>
          <a:xfrm>
            <a:off x="594360" y="1949630"/>
            <a:ext cx="5090160" cy="7185"/>
          </a:xfrm>
          <a:prstGeom prst="line">
            <a:avLst/>
          </a:prstGeom>
          <a:noFill/>
          <a:ln w="9525">
            <a:solidFill>
              <a:srgbClr val="D8E1EE"/>
            </a:solidFill>
            <a:prstDash val="solid"/>
          </a:ln>
        </p:spPr>
      </p:sp>
      <p:sp>
        <p:nvSpPr>
          <p:cNvPr id="405" name="Items"/>
          <p:cNvSpPr/>
          <p:nvPr/>
        </p:nvSpPr>
        <p:spPr>
          <a:xfrm>
            <a:off x="594360" y="2103120"/>
            <a:ext cx="5090160" cy="963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39700" indent="-139700">
              <a:lnSpc>
                <a:spcPct val="112000"/>
              </a:lnSpc>
              <a:spcAft>
                <a:spcPts val="500"/>
              </a:spcAft>
              <a:buSzPct val="100000"/>
              <a:buChar char="●"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Ministry of Textiles (Handicrafts): </a:t>
            </a: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Artisan clusters &amp; export data.  </a:t>
            </a:r>
            <a:r>
              <a:rPr lang="en-US" sz="1400" i="1" dirty="0">
                <a:solidFill>
                  <a:srgbClr val="33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handicrafts.nic.in</a:t>
            </a:r>
            <a:endParaRPr lang="en-US" sz="1400" dirty="0"/>
          </a:p>
          <a:p>
            <a:pPr marL="139700" indent="-139700">
              <a:lnSpc>
                <a:spcPct val="112000"/>
              </a:lnSpc>
              <a:spcAft>
                <a:spcPts val="500"/>
              </a:spcAft>
              <a:buSzPct val="100000"/>
              <a:buChar char="●"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ICRIER Digital Economy Report 2023: </a:t>
            </a: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Rural-urban digital access data.  </a:t>
            </a:r>
            <a:r>
              <a:rPr lang="en-US" sz="1400" i="1" dirty="0">
                <a:solidFill>
                  <a:srgbClr val="33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icrier.org</a:t>
            </a:r>
            <a:endParaRPr lang="en-US" sz="1400" dirty="0"/>
          </a:p>
        </p:txBody>
      </p:sp>
      <p:sp>
        <p:nvSpPr>
          <p:cNvPr id="410" name="Card"/>
          <p:cNvSpPr/>
          <p:nvPr/>
        </p:nvSpPr>
        <p:spPr>
          <a:xfrm>
            <a:off x="6233160" y="1461435"/>
            <a:ext cx="5638800" cy="2043032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875">
            <a:solidFill>
              <a:srgbClr val="AFC6E3"/>
            </a:solidFill>
            <a:prstDash val="solid"/>
          </a:ln>
        </p:spPr>
      </p:sp>
      <p:sp>
        <p:nvSpPr>
          <p:cNvPr id="411" name="IconCircle"/>
          <p:cNvSpPr/>
          <p:nvPr/>
        </p:nvSpPr>
        <p:spPr>
          <a:xfrm>
            <a:off x="6518801" y="1537276"/>
            <a:ext cx="274320" cy="274320"/>
          </a:xfrm>
          <a:prstGeom prst="ellipse">
            <a:avLst/>
          </a:prstGeom>
          <a:solidFill>
            <a:srgbClr val="128C87"/>
          </a:solidFill>
          <a:ln/>
        </p:spPr>
      </p:sp>
      <p:pic>
        <p:nvPicPr>
          <p:cNvPr id="412" name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6537983" y="1596916"/>
            <a:ext cx="223156" cy="177020"/>
          </a:xfrm>
          <a:prstGeom prst="rect">
            <a:avLst/>
          </a:prstGeom>
        </p:spPr>
      </p:pic>
      <p:sp>
        <p:nvSpPr>
          <p:cNvPr id="413" name="Heading"/>
          <p:cNvSpPr/>
          <p:nvPr/>
        </p:nvSpPr>
        <p:spPr>
          <a:xfrm>
            <a:off x="6903720" y="1353313"/>
            <a:ext cx="469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DOMAIN RESEARCH</a:t>
            </a:r>
            <a:endParaRPr lang="en-US" sz="1600" dirty="0"/>
          </a:p>
        </p:txBody>
      </p:sp>
      <p:sp>
        <p:nvSpPr>
          <p:cNvPr id="414" name="Divider"/>
          <p:cNvSpPr/>
          <p:nvPr/>
        </p:nvSpPr>
        <p:spPr>
          <a:xfrm>
            <a:off x="6507480" y="1863847"/>
            <a:ext cx="5090160" cy="0"/>
          </a:xfrm>
          <a:prstGeom prst="line">
            <a:avLst/>
          </a:prstGeom>
          <a:noFill/>
          <a:ln w="9525">
            <a:solidFill>
              <a:srgbClr val="D8E1EE"/>
            </a:solidFill>
            <a:prstDash val="solid"/>
          </a:ln>
        </p:spPr>
      </p:sp>
      <p:sp>
        <p:nvSpPr>
          <p:cNvPr id="415" name="Items"/>
          <p:cNvSpPr/>
          <p:nvPr/>
        </p:nvSpPr>
        <p:spPr>
          <a:xfrm>
            <a:off x="6507480" y="2103120"/>
            <a:ext cx="5090160" cy="116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39700" indent="-139700">
              <a:lnSpc>
                <a:spcPct val="112000"/>
              </a:lnSpc>
              <a:spcAft>
                <a:spcPts val="500"/>
              </a:spcAft>
              <a:buSzPct val="100000"/>
              <a:buChar char="●"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IHD x Crafts Council (2026): </a:t>
            </a: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Craft-sector employment, value-add &amp; e-commerce challenges.  </a:t>
            </a:r>
            <a:r>
              <a:rPr lang="en-US" sz="1200" i="1" dirty="0">
                <a:solidFill>
                  <a:srgbClr val="33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researchgate.net</a:t>
            </a:r>
            <a:endParaRPr lang="en-US" sz="1200" dirty="0"/>
          </a:p>
          <a:p>
            <a:pPr marL="139700" indent="-139700">
              <a:lnSpc>
                <a:spcPct val="112000"/>
              </a:lnSpc>
              <a:spcAft>
                <a:spcPts val="500"/>
              </a:spcAft>
              <a:buSzPct val="100000"/>
              <a:buChar char="●"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 Indian Handicrafts Review (2026): </a:t>
            </a: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opportunities &amp; digital barriers in handicrafts.  </a:t>
            </a:r>
            <a:r>
              <a:rPr lang="en-US" sz="1200" i="1" dirty="0">
                <a:solidFill>
                  <a:srgbClr val="33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sciencedirect.com</a:t>
            </a:r>
            <a:endParaRPr lang="en-US" sz="1200" dirty="0"/>
          </a:p>
          <a:p>
            <a:pPr marL="139700" indent="-139700">
              <a:lnSpc>
                <a:spcPct val="112000"/>
              </a:lnSpc>
              <a:spcAft>
                <a:spcPts val="500"/>
              </a:spcAft>
              <a:buSzPct val="100000"/>
              <a:buChar char="●"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LEAD, Krea University – Project DIGITAL: </a:t>
            </a: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Artisan digital readiness in Rajasthan.  </a:t>
            </a:r>
            <a:r>
              <a:rPr lang="en-US" sz="1200" i="1" dirty="0">
                <a:solidFill>
                  <a:srgbClr val="33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krea.edu.in</a:t>
            </a:r>
            <a:endParaRPr lang="en-US" sz="1200" dirty="0"/>
          </a:p>
        </p:txBody>
      </p:sp>
      <p:sp>
        <p:nvSpPr>
          <p:cNvPr id="420" name="Card"/>
          <p:cNvSpPr/>
          <p:nvPr/>
        </p:nvSpPr>
        <p:spPr>
          <a:xfrm>
            <a:off x="320040" y="3541640"/>
            <a:ext cx="5638800" cy="2566552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875">
            <a:solidFill>
              <a:srgbClr val="AFC6E3"/>
            </a:solidFill>
            <a:prstDash val="solid"/>
          </a:ln>
        </p:spPr>
      </p:sp>
      <p:sp>
        <p:nvSpPr>
          <p:cNvPr id="421" name="IconCircle"/>
          <p:cNvSpPr/>
          <p:nvPr/>
        </p:nvSpPr>
        <p:spPr>
          <a:xfrm>
            <a:off x="594360" y="3797672"/>
            <a:ext cx="274320" cy="274320"/>
          </a:xfrm>
          <a:prstGeom prst="ellipse">
            <a:avLst/>
          </a:prstGeom>
          <a:solidFill>
            <a:srgbClr val="7C5AA6"/>
          </a:solidFill>
          <a:ln/>
        </p:spPr>
      </p:sp>
      <p:pic>
        <p:nvPicPr>
          <p:cNvPr id="422" name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3852536"/>
            <a:ext cx="164592" cy="164592"/>
          </a:xfrm>
          <a:prstGeom prst="rect">
            <a:avLst/>
          </a:prstGeom>
        </p:spPr>
      </p:pic>
      <p:sp>
        <p:nvSpPr>
          <p:cNvPr id="423" name="Heading"/>
          <p:cNvSpPr/>
          <p:nvPr/>
        </p:nvSpPr>
        <p:spPr>
          <a:xfrm>
            <a:off x="990600" y="3797672"/>
            <a:ext cx="469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COMMERCE &amp; MARKET LINKAGE</a:t>
            </a:r>
            <a:endParaRPr lang="en-US" sz="1600" dirty="0"/>
          </a:p>
        </p:txBody>
      </p:sp>
      <p:sp>
        <p:nvSpPr>
          <p:cNvPr id="424" name="Divider"/>
          <p:cNvSpPr/>
          <p:nvPr/>
        </p:nvSpPr>
        <p:spPr>
          <a:xfrm>
            <a:off x="594360" y="4090280"/>
            <a:ext cx="5090160" cy="0"/>
          </a:xfrm>
          <a:prstGeom prst="line">
            <a:avLst/>
          </a:prstGeom>
          <a:noFill/>
          <a:ln w="9525">
            <a:solidFill>
              <a:srgbClr val="D8E1EE"/>
            </a:solidFill>
            <a:prstDash val="solid"/>
          </a:ln>
        </p:spPr>
      </p:sp>
      <p:sp>
        <p:nvSpPr>
          <p:cNvPr id="425" name="Items"/>
          <p:cNvSpPr/>
          <p:nvPr/>
        </p:nvSpPr>
        <p:spPr>
          <a:xfrm>
            <a:off x="594360" y="4181720"/>
            <a:ext cx="5090160" cy="1679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39700" indent="-139700">
              <a:lnSpc>
                <a:spcPct val="112000"/>
              </a:lnSpc>
              <a:spcAft>
                <a:spcPts val="500"/>
              </a:spcAft>
              <a:buSzPct val="100000"/>
              <a:buChar char="●"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IndiaHandmade: </a:t>
            </a: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Govt. marketplace for handloom &amp; handicraft artisans.  </a:t>
            </a:r>
            <a:r>
              <a:rPr lang="en-US" sz="1400" i="1" dirty="0">
                <a:solidFill>
                  <a:srgbClr val="33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indiahandmade.com</a:t>
            </a:r>
            <a:endParaRPr lang="en-US" sz="1400" dirty="0"/>
          </a:p>
          <a:p>
            <a:pPr marL="139700" indent="-139700">
              <a:lnSpc>
                <a:spcPct val="112000"/>
              </a:lnSpc>
              <a:spcAft>
                <a:spcPts val="500"/>
              </a:spcAft>
              <a:buSzPct val="100000"/>
              <a:buChar char="●"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ONDC: </a:t>
            </a: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Open, interoperable digital commerce network.  </a:t>
            </a:r>
            <a:r>
              <a:rPr lang="en-US" sz="1400" i="1" dirty="0">
                <a:solidFill>
                  <a:srgbClr val="33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ondc.org</a:t>
            </a:r>
            <a:endParaRPr lang="en-US" sz="1400" dirty="0"/>
          </a:p>
          <a:p>
            <a:pPr marL="139700" indent="-139700">
              <a:lnSpc>
                <a:spcPct val="112000"/>
              </a:lnSpc>
              <a:spcAft>
                <a:spcPts val="500"/>
              </a:spcAft>
              <a:buSzPct val="100000"/>
              <a:buChar char="●"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ONDC x McKinsey (2023): </a:t>
            </a: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Reforming digital commerce in India.  </a:t>
            </a:r>
            <a:r>
              <a:rPr lang="en-US" sz="1400" i="1" dirty="0">
                <a:solidFill>
                  <a:srgbClr val="33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mckinsey.com</a:t>
            </a:r>
            <a:endParaRPr lang="en-US" sz="1400" dirty="0"/>
          </a:p>
        </p:txBody>
      </p:sp>
      <p:sp>
        <p:nvSpPr>
          <p:cNvPr id="430" name="Card"/>
          <p:cNvSpPr/>
          <p:nvPr/>
        </p:nvSpPr>
        <p:spPr>
          <a:xfrm>
            <a:off x="6080760" y="3551084"/>
            <a:ext cx="5638800" cy="2566552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875">
            <a:solidFill>
              <a:srgbClr val="AFC6E3"/>
            </a:solidFill>
            <a:prstDash val="solid"/>
          </a:ln>
        </p:spPr>
      </p:sp>
      <p:sp>
        <p:nvSpPr>
          <p:cNvPr id="431" name="IconCircle"/>
          <p:cNvSpPr/>
          <p:nvPr/>
        </p:nvSpPr>
        <p:spPr>
          <a:xfrm>
            <a:off x="6507480" y="3797672"/>
            <a:ext cx="274320" cy="27432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32" name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2344" y="3852536"/>
            <a:ext cx="164592" cy="164592"/>
          </a:xfrm>
          <a:prstGeom prst="rect">
            <a:avLst/>
          </a:prstGeom>
        </p:spPr>
      </p:pic>
      <p:sp>
        <p:nvSpPr>
          <p:cNvPr id="433" name="Heading"/>
          <p:cNvSpPr/>
          <p:nvPr/>
        </p:nvSpPr>
        <p:spPr>
          <a:xfrm>
            <a:off x="6903720" y="3797672"/>
            <a:ext cx="469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&amp; RESEARCH REFERENCES</a:t>
            </a:r>
            <a:endParaRPr lang="en-US" sz="1600" dirty="0"/>
          </a:p>
        </p:txBody>
      </p:sp>
      <p:sp>
        <p:nvSpPr>
          <p:cNvPr id="434" name="Divider"/>
          <p:cNvSpPr/>
          <p:nvPr/>
        </p:nvSpPr>
        <p:spPr>
          <a:xfrm>
            <a:off x="6507480" y="4125849"/>
            <a:ext cx="5090160" cy="0"/>
          </a:xfrm>
          <a:prstGeom prst="line">
            <a:avLst/>
          </a:prstGeom>
          <a:noFill/>
          <a:ln w="9525">
            <a:solidFill>
              <a:srgbClr val="D8E1EE"/>
            </a:solidFill>
            <a:prstDash val="solid"/>
          </a:ln>
        </p:spPr>
      </p:sp>
      <p:sp>
        <p:nvSpPr>
          <p:cNvPr id="435" name="Items"/>
          <p:cNvSpPr/>
          <p:nvPr/>
        </p:nvSpPr>
        <p:spPr>
          <a:xfrm>
            <a:off x="6507480" y="4181719"/>
            <a:ext cx="5090160" cy="2063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39700" indent="-139700">
              <a:lnSpc>
                <a:spcPct val="112000"/>
              </a:lnSpc>
              <a:spcAft>
                <a:spcPts val="500"/>
              </a:spcAft>
              <a:buSzPct val="100000"/>
              <a:buChar char="●"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Bhashini (MeitY): </a:t>
            </a: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Indian-language voice &amp; translation.  </a:t>
            </a:r>
            <a:r>
              <a:rPr lang="en-US" sz="1200" i="1" dirty="0">
                <a:solidFill>
                  <a:srgbClr val="33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bhashini.gov.in</a:t>
            </a:r>
            <a:endParaRPr lang="en-US" sz="1200" dirty="0"/>
          </a:p>
          <a:p>
            <a:pPr marL="139700" indent="-139700">
              <a:lnSpc>
                <a:spcPct val="112000"/>
              </a:lnSpc>
              <a:spcAft>
                <a:spcPts val="500"/>
              </a:spcAft>
              <a:buSzPct val="100000"/>
              <a:buChar char="●"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U2-Net / RemBG (2020): </a:t>
            </a: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background removal.  </a:t>
            </a:r>
            <a:r>
              <a:rPr lang="en-US" sz="1200" i="1" dirty="0">
                <a:solidFill>
                  <a:srgbClr val="33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github.com/danielgatis/rembg</a:t>
            </a:r>
            <a:endParaRPr lang="en-US" sz="1200" dirty="0"/>
          </a:p>
          <a:p>
            <a:pPr marL="139700" indent="-139700">
              <a:lnSpc>
                <a:spcPct val="112000"/>
              </a:lnSpc>
              <a:spcAft>
                <a:spcPts val="500"/>
              </a:spcAft>
              <a:buSzPct val="100000"/>
              <a:buChar char="●"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OpenCV: </a:t>
            </a: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processing and computer vision.  </a:t>
            </a:r>
            <a:r>
              <a:rPr lang="en-US" sz="1200" i="1" dirty="0">
                <a:solidFill>
                  <a:srgbClr val="33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opencv.org</a:t>
            </a:r>
            <a:endParaRPr lang="en-US" sz="1200" dirty="0"/>
          </a:p>
          <a:p>
            <a:pPr marL="139700" indent="-139700">
              <a:lnSpc>
                <a:spcPct val="112000"/>
              </a:lnSpc>
              <a:spcAft>
                <a:spcPts val="500"/>
              </a:spcAft>
              <a:buSzPct val="100000"/>
              <a:buChar char="●"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scikit-learn: </a:t>
            </a: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engine and regression models.  </a:t>
            </a:r>
            <a:r>
              <a:rPr lang="en-US" sz="1200" i="1" dirty="0">
                <a:solidFill>
                  <a:srgbClr val="33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scikit-learn.org</a:t>
            </a:r>
            <a:endParaRPr lang="en-US" sz="1200" dirty="0"/>
          </a:p>
          <a:p>
            <a:pPr marL="139700" indent="-139700">
              <a:lnSpc>
                <a:spcPct val="112000"/>
              </a:lnSpc>
              <a:spcAft>
                <a:spcPts val="500"/>
              </a:spcAft>
              <a:buSzPct val="100000"/>
              <a:buChar char="●"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SQLite: </a:t>
            </a: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Local-first storage and offline sync.  </a:t>
            </a:r>
            <a:r>
              <a:rPr lang="en-US" sz="1200" i="1" dirty="0">
                <a:solidFill>
                  <a:srgbClr val="33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sqlite.org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20040" y="6382512"/>
            <a:ext cx="11548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Evidence-led • Open-source • Offline-first • Designed for rural artisan adoption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13234</TotalTime>
  <Words>551</Words>
  <Application>Microsoft Office PowerPoint</Application>
  <PresentationFormat>Widescreen</PresentationFormat>
  <Paragraphs>71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ＭＳ Ｐゴシック</vt:lpstr>
      <vt:lpstr>Arial</vt:lpstr>
      <vt:lpstr>Calibri</vt:lpstr>
      <vt:lpstr>Garamond</vt:lpstr>
      <vt:lpstr>TradeGothic</vt:lpstr>
      <vt:lpstr>Office Theme</vt:lpstr>
      <vt:lpstr>SMART INDIA HACKATHON 2026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Ravi</cp:lastModifiedBy>
  <cp:revision>203</cp:revision>
  <dcterms:created xsi:type="dcterms:W3CDTF">2013-12-12T18:46:50Z</dcterms:created>
  <dcterms:modified xsi:type="dcterms:W3CDTF">2026-09-09T12:39:52Z</dcterms:modified>
  <cp:category/>
</cp:coreProperties>
</file>